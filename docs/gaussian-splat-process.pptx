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lat_rover_ey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0"/>
            <a:ext cx="6430975" cy="6852678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057400"/>
            <a:ext cx="82296" cy="1600200"/>
          </a:xfrm>
          <a:prstGeom prst="rect">
            <a:avLst/>
          </a:prstGeom>
          <a:solidFill>
            <a:srgbClr val="F5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3C"/>
                </a:solidFill>
                <a:latin typeface="Space Grotesk"/>
              </a:rPr>
              <a:t>GAUSSIAN SPLATTING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ECEBE6"/>
                </a:solidFill>
                <a:latin typeface="Space Grotesk"/>
              </a:rPr>
              <a:t>From rover photos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ECEBE6"/>
                </a:solidFill>
                <a:latin typeface="Space Grotesk"/>
              </a:rPr>
              <a:t>to a walkable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ECEBE6"/>
                </a:solidFill>
                <a:latin typeface="Space Grotesk"/>
              </a:rPr>
              <a:t>piece of Mars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AA0AB"/>
                </a:solidFill>
                <a:latin typeface="Space Grotesk"/>
              </a:rPr>
              <a:t>241 Perseverance photos of Cheyava Falls became 972,047 Gaussians, in real metres, without ever guessing where a camera was.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Planetary Scene Studio  ·  MHacks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Right: our splat in the viewer, from rover height.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5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3C"/>
                </a:solidFill>
                <a:latin typeface="Space Grotesk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BE6"/>
                </a:solidFill>
                <a:latin typeface="Space Grotesk"/>
              </a:rPr>
              <a:t>Start from real photos, from three parking 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AB"/>
                </a:solidFill>
                <a:latin typeface="Space Grotesk"/>
              </a:rPr>
              <a:t>A splat needs the same ground seen from different places. One stop only gives rotation; three give depth.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0AB"/>
                </a:solidFill>
                <a:latin typeface="Space Grotesk"/>
              </a:rPr>
              <a:t>Planetary Scene Studio  ·  how the Mars splat was made</a:t>
            </a:r>
          </a:p>
        </p:txBody>
      </p:sp>
      <p:pic>
        <p:nvPicPr>
          <p:cNvPr id="7" name="Picture 6" descr="mcz_r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42" y="2011680"/>
            <a:ext cx="3120035" cy="3017520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3142" y="5102352"/>
            <a:ext cx="31200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Mastcam-Z: a rock and the rover's wheel tracks</a:t>
            </a:r>
          </a:p>
        </p:txBody>
      </p:sp>
      <p:pic>
        <p:nvPicPr>
          <p:cNvPr id="9" name="Picture 8" descr="mcz_dr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011680"/>
            <a:ext cx="3291839" cy="2388935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297680" y="4473767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Mastcam-Z: where the sample was drilled</a:t>
            </a:r>
          </a:p>
        </p:txBody>
      </p:sp>
      <p:pic>
        <p:nvPicPr>
          <p:cNvPr id="11" name="Picture 10" descr="st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874519"/>
            <a:ext cx="3703320" cy="3703320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955279" y="565099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Where the rover stood, to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4068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241   </a:t>
            </a:r>
            <a:r>
              <a:rPr sz="1400" b="0">
                <a:solidFill>
                  <a:srgbClr val="ECEBE6"/>
                </a:solidFill>
                <a:latin typeface="Space Grotesk"/>
              </a:rPr>
              <a:t>photos from NASA's public Mars 2020 feed, sols 1195 to 1210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2 cameras   </a:t>
            </a:r>
            <a:r>
              <a:rPr sz="1400" b="0">
                <a:solidFill>
                  <a:srgbClr val="ECEBE6"/>
                </a:solidFill>
                <a:latin typeface="Space Grotesk"/>
              </a:rPr>
              <a:t>Navcam (wide stereo pair) and Mastcam-Z (zoom, colour)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5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3C"/>
                </a:solidFill>
                <a:latin typeface="Space Grotesk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BE6"/>
                </a:solidFill>
                <a:latin typeface="Space Grotesk"/>
              </a:rPr>
              <a:t>Get the geometry from NASA, not from guesswork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AB"/>
                </a:solidFill>
                <a:latin typeface="Space Grotesk"/>
              </a:rPr>
              <a:t>Every image ships with its camera model and the rover's position, so the scene is in metres from the first step. No structure-from-motion.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0AB"/>
                </a:solidFill>
                <a:latin typeface="Space Grotesk"/>
              </a:rPr>
              <a:t>Planetary Scene Studio  ·  how the Mars splat was made</a:t>
            </a:r>
          </a:p>
        </p:txBody>
      </p:sp>
      <p:pic>
        <p:nvPicPr>
          <p:cNvPr id="7" name="Picture 6" descr="navcam_undistor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3429000" cy="2596242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4681074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Fisheye Navcam frame, straightened with its JPL camera model</a:t>
            </a:r>
          </a:p>
        </p:txBody>
      </p:sp>
      <p:pic>
        <p:nvPicPr>
          <p:cNvPr id="9" name="Picture 8" descr="stereo_dep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011680"/>
            <a:ext cx="3291840" cy="2606040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457700" y="469087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Depth from the two Navcam eyes, 42 cm apart (red is near)</a:t>
            </a:r>
          </a:p>
        </p:txBody>
      </p:sp>
      <p:pic>
        <p:nvPicPr>
          <p:cNvPr id="11" name="Picture 10" descr="cross_stop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011680"/>
            <a:ext cx="3429000" cy="1285875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001000" y="3370707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One spot (red circle) located in photos from other stops, from rover telemetry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789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0.1 px   </a:t>
            </a:r>
            <a:r>
              <a:rPr sz="1400" b="0">
                <a:solidFill>
                  <a:srgbClr val="ECEBE6"/>
                </a:solidFill>
                <a:latin typeface="Space Grotesk"/>
              </a:rPr>
              <a:t>stereo matching error after undistorting, down from about 1 px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312,136   </a:t>
            </a:r>
            <a:r>
              <a:rPr sz="1400" b="0">
                <a:solidFill>
                  <a:srgbClr val="ECEBE6"/>
                </a:solidFill>
                <a:latin typeface="Space Grotesk"/>
              </a:rPr>
              <a:t>3D points from stereo, used as the starting positions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2 px   </a:t>
            </a:r>
            <a:r>
              <a:rPr sz="1400" b="0">
                <a:solidFill>
                  <a:srgbClr val="ECEBE6"/>
                </a:solidFill>
                <a:latin typeface="Space Grotesk"/>
              </a:rPr>
              <a:t>worst misalignment between the three stops after registration (our limit: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5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3C"/>
                </a:solidFill>
                <a:latin typeface="Space Grotesk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BE6"/>
                </a:solidFill>
                <a:latin typeface="Space Grotesk"/>
              </a:rPr>
              <a:t>Train, then judge by looking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AB"/>
                </a:solidFill>
                <a:latin typeface="Space Grotesk"/>
              </a:rPr>
              <a:t>gsplat with the MCMC strategy on a Colab A100. The usual score barely moved between good and bad runs, so every run was rendered from new viewpoints.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0AB"/>
                </a:solidFill>
                <a:latin typeface="Space Grotesk"/>
              </a:rPr>
              <a:t>Planetary Scene Studio  ·  how the Mars splat was made</a:t>
            </a:r>
          </a:p>
        </p:txBody>
      </p:sp>
      <p:pic>
        <p:nvPicPr>
          <p:cNvPr id="7" name="Picture 6" descr="v1_spik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4572000" cy="2914650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499948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First run: fine from the training cameras, spikes from anywhere else</a:t>
            </a:r>
          </a:p>
        </p:txBody>
      </p:sp>
      <p:pic>
        <p:nvPicPr>
          <p:cNvPr id="9" name="Picture 8" descr="v4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011680"/>
            <a:ext cx="4572000" cy="2914650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577840" y="499948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Final run, same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2011680"/>
            <a:ext cx="14630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30,000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>steps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25 min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>on one A100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2.5 M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>Gaussians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94960"/>
            <a:ext cx="107899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5A63C"/>
                </a:solidFill>
                <a:latin typeface="Space Grotesk"/>
              </a:rPr>
              <a:t>Fix 1   </a:t>
            </a:r>
            <a:r>
              <a:rPr sz="1300" b="0">
                <a:solidFill>
                  <a:srgbClr val="ECEBE6"/>
                </a:solidFill>
                <a:latin typeface="Space Grotesk"/>
              </a:rPr>
              <a:t>a depth-loss bug that produced NaNs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F5A63C"/>
                </a:solidFill>
                <a:latin typeface="Space Grotesk"/>
              </a:rPr>
              <a:t>Fix 2   </a:t>
            </a:r>
            <a:r>
              <a:rPr sz="1300" b="0">
                <a:solidFill>
                  <a:srgbClr val="ECEBE6"/>
                </a:solidFill>
                <a:latin typeface="Space Grotesk"/>
              </a:rPr>
              <a:t>two regularisers that removed Gaussians seen by only a few photos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F5A63C"/>
                </a:solidFill>
                <a:latin typeface="Space Grotesk"/>
              </a:rPr>
              <a:t>Fix 3   </a:t>
            </a:r>
            <a:r>
              <a:rPr sz="1300" b="0">
                <a:solidFill>
                  <a:srgbClr val="ECEBE6"/>
                </a:solidFill>
                <a:latin typeface="Space Grotesk"/>
              </a:rPr>
              <a:t>a penalty on needle-shaped Gaussians, which were the spikes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5A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3C"/>
                </a:solidFill>
                <a:latin typeface="Space Grotesk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BE6"/>
                </a:solidFill>
                <a:latin typeface="Space Grotesk"/>
              </a:rPr>
              <a:t>Put it on the map, and make it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AB"/>
                </a:solidFill>
                <a:latin typeface="Space Grotesk"/>
              </a:rPr>
              <a:t>Cropped to the 9 m that the photos cover well, placed on NASA's orbital terrain in the same metric frame, with a layer value on every Gaussian.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0AB"/>
                </a:solidFill>
                <a:latin typeface="Space Grotesk"/>
              </a:rPr>
              <a:t>Planetary Scene Studio  ·  how the Mars splat was made</a:t>
            </a:r>
          </a:p>
        </p:txBody>
      </p:sp>
      <p:pic>
        <p:nvPicPr>
          <p:cNvPr id="7" name="Picture 6" descr="orbit_vs_sp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7498079" cy="3724211"/>
          </a:xfrm>
          <a:prstGeom prst="rect">
            <a:avLst/>
          </a:prstGeom>
          <a:ln w="9525">
            <a:solidFill>
              <a:srgbClr val="2A2F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5809043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AB"/>
                </a:solidFill>
                <a:latin typeface="Space Grotesk"/>
              </a:rPr>
              <a:t>The same 18 m disc: 38 x 36 orbital pixels on the left, our splat on the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01168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972,047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>Gaussians in a 16 MB file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270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>orbital height samples in the same disc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Layers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>terrain class, roughness, search cluster on every Gaussian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A63C"/>
                </a:solidFill>
                <a:latin typeface="Space Grotesk"/>
              </a:rPr>
              <a:t>10 cm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CEBE6"/>
                </a:solidFill>
                <a:latin typeface="Space Grotesk"/>
              </a:rPr>
              <a:t>surface map the rover drives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52578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0AB"/>
                </a:solidFill>
                <a:latin typeface="Space Grotesk"/>
              </a:rPr>
              <a:t>Limits: soft from closer than about 2 m, and holes where no photo covers the ground.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